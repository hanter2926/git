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GIT &amp; GITHUB • COMPLETE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Git &amp; GitHub: The Big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24712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>
              <a:defRPr sz="1000" b="1">
                <a:solidFill>
                  <a:srgbClr val="B1BE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196596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63624"/>
            <a:ext cx="50292" cy="1673351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1. What is Git?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154680" cy="13716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• Git is a distributed version control system used to track changes in source code.</a:t>
            </a:r>
            <a:br/>
            <a:r>
              <a:t>• Helps multiple developers work on a project together.</a:t>
            </a:r>
            <a:br/>
            <a:r>
              <a:t>• Keeps a history of changes, so you can go back to previous versions.</a:t>
            </a:r>
            <a:br/>
            <a:r>
              <a:t>• Fast, secure and works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520440" cy="23774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12463"/>
            <a:ext cx="50292" cy="208483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8503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2. What is GitHub?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154680" cy="17830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• GitHub is a cloud-based platform that hosts Git repositories.</a:t>
            </a:r>
            <a:br/>
            <a:r>
              <a:t>• Provides a web interface to manage code, collaborate and showcase projects.</a:t>
            </a:r>
            <a:br/>
            <a:r>
              <a:t>• Built on top of Git.</a:t>
            </a:r>
            <a:br/>
            <a:r>
              <a:t>• Features include issue tracking, pull requests, code review, project management,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474720" cy="20116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563624"/>
            <a:ext cx="50292" cy="1719072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36192"/>
            <a:ext cx="310896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5BDCA0"/>
                </a:solidFill>
                <a:latin typeface="Aptos"/>
              </a:defRPr>
            </a:pPr>
            <a:r>
              <a:t>4. How Git and GitHub Work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20240"/>
            <a:ext cx="3108960" cy="14173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Local System (your computer)  ⇄  GitHub (remote repository)</a:t>
            </a:r>
            <a:br/>
            <a:br/>
            <a:r>
              <a:t>Push: upload local changes to GitHub.</a:t>
            </a:r>
            <a:br/>
            <a:r>
              <a:t>Pull: download changes from GitHub.</a:t>
            </a:r>
            <a:br/>
            <a:br/>
            <a:r>
              <a:t>• You write code and use Git to track changes locally.</a:t>
            </a:r>
            <a:br/>
            <a:r>
              <a:t>• You push your code to GitHub remote repository.</a:t>
            </a:r>
            <a:br/>
            <a:r>
              <a:t>• Others can pull, clone, suggest changes and collaborate.</a:t>
            </a:r>
            <a:br/>
            <a:r>
              <a:t>• You can also pull updates from GitHub to your local 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611880"/>
            <a:ext cx="3474720" cy="233172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758184"/>
            <a:ext cx="50292" cy="2039112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730752"/>
            <a:ext cx="310896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FFC457"/>
                </a:solidFill>
                <a:latin typeface="Aptos"/>
              </a:defRPr>
            </a:pPr>
            <a:r>
              <a:t>5. 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14800"/>
            <a:ext cx="3108960" cy="17373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• Tracks every change in the code.</a:t>
            </a:r>
            <a:br/>
            <a:r>
              <a:t>• Supports collaboration (multiple developers).</a:t>
            </a:r>
            <a:br/>
            <a:r>
              <a:t>• Allows branching and merging.</a:t>
            </a:r>
            <a:br/>
            <a:r>
              <a:t>• Keeps a complete history of the project.</a:t>
            </a:r>
            <a:br/>
            <a:r>
              <a:t>• Helps in backup and recovery.</a:t>
            </a:r>
            <a:br/>
            <a:r>
              <a:t>• Works across platforms (Windows, Linux, Mac).</a:t>
            </a:r>
            <a:br/>
            <a:r>
              <a:t>• Free to use (Git) and free public repositories on GitHub.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417320"/>
            <a:ext cx="3703320" cy="205740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1563624"/>
            <a:ext cx="50292" cy="176479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536192"/>
            <a:ext cx="333756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3. Git vs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1920240"/>
            <a:ext cx="3337560" cy="14630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Git: version control system; tracks changes in code; works offline; developed by Linus Torvalds; main use: version control; example: local repository.</a:t>
            </a:r>
            <a:br/>
            <a:br/>
            <a:r>
              <a:t>GitHub: cloud platform; hosts and manages Git repositories; requires internet for cloud features; collaboration; example: remote repository (on cloud).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639312"/>
            <a:ext cx="3703320" cy="2304288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785615"/>
            <a:ext cx="50292" cy="2011680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3758184"/>
            <a:ext cx="333756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6. Common Use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4142232"/>
            <a:ext cx="3337560" cy="170992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• Collaborating on projects with a team.</a:t>
            </a:r>
            <a:br/>
            <a:r>
              <a:t>• Maintaining different versions of a project.</a:t>
            </a:r>
            <a:br/>
            <a:r>
              <a:t>• Contributing to open-source projects.</a:t>
            </a:r>
            <a:br/>
            <a:r>
              <a:t>• Showcasing your work (portfolio) on GitHub.</a:t>
            </a:r>
            <a:br/>
            <a:r>
              <a:t>• Managing and tracking changes in code.</a:t>
            </a:r>
            <a:br/>
            <a:r>
              <a:t>• Used in companies for professional development and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GIT &amp; GITHUB • COMPLETE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Basic Git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24712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>
              <a:defRPr sz="1000" b="1">
                <a:solidFill>
                  <a:srgbClr val="B1BE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196596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506577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1. Setup &amp;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" y="1892808"/>
            <a:ext cx="1715231" cy="317753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11096"/>
            <a:ext cx="1646651" cy="27660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8171" y="1892808"/>
            <a:ext cx="1715231" cy="317753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747" y="1911096"/>
            <a:ext cx="1646651" cy="27660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5407" y="1892808"/>
            <a:ext cx="1612452" cy="317753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1983" y="1911096"/>
            <a:ext cx="1543872" cy="27660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" y="2242566"/>
            <a:ext cx="1715231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256282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--version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8171" y="2242566"/>
            <a:ext cx="1715231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747" y="2256282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Check Git version installed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5407" y="2242566"/>
            <a:ext cx="1612452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1983" y="2256282"/>
            <a:ext cx="1543872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--version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" y="2592324"/>
            <a:ext cx="1715231" cy="317753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606040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config --global user.name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8171" y="2592324"/>
            <a:ext cx="1715231" cy="317753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14747" y="2606040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Set your 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25407" y="2592324"/>
            <a:ext cx="1612452" cy="317753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1983" y="2606040"/>
            <a:ext cx="1543872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config --global user.name "Vikram"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" y="2942082"/>
            <a:ext cx="1715231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955798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config --global user.email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8171" y="2942082"/>
            <a:ext cx="1715231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747" y="2955798"/>
            <a:ext cx="1646651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Set your 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25407" y="2942082"/>
            <a:ext cx="1612452" cy="317753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1983" y="2955798"/>
            <a:ext cx="1543872" cy="299465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config --global user.email "you@example.com"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417320"/>
            <a:ext cx="5486400" cy="196596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1508760"/>
            <a:ext cx="515721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2. Create a Repository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216" y="1892808"/>
            <a:ext cx="1537106" cy="43433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1911096"/>
            <a:ext cx="1468526" cy="39319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9326" y="1892808"/>
            <a:ext cx="2060143" cy="43433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5902" y="1911096"/>
            <a:ext cx="1991563" cy="39319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1473" y="1892808"/>
            <a:ext cx="1537106" cy="43433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8049" y="1911096"/>
            <a:ext cx="1468526" cy="39319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0216" y="2359152"/>
            <a:ext cx="1537106" cy="43433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2372868"/>
            <a:ext cx="1468526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init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9326" y="2359152"/>
            <a:ext cx="2060143" cy="43433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5902" y="2372868"/>
            <a:ext cx="1991563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Initialize a new local repository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1473" y="2359152"/>
            <a:ext cx="1537106" cy="43433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8049" y="2372868"/>
            <a:ext cx="1468526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init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216" y="2825496"/>
            <a:ext cx="1537106" cy="43433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6792" y="2839212"/>
            <a:ext cx="1468526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clone &lt;URL&gt;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9326" y="2825496"/>
            <a:ext cx="2060143" cy="43433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5902" y="2839212"/>
            <a:ext cx="1991563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Clone a remote repository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1473" y="2825496"/>
            <a:ext cx="1537106" cy="43433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98049" y="2839212"/>
            <a:ext cx="1468526" cy="41605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clone &lt;URL&gt;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3566160"/>
            <a:ext cx="5394960" cy="228600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" y="3657600"/>
            <a:ext cx="506577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3. Working with Files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" y="4041648"/>
            <a:ext cx="1509674" cy="31181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4059935"/>
            <a:ext cx="1441094" cy="27066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72614" y="4041648"/>
            <a:ext cx="2023567" cy="31181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09190" y="4059935"/>
            <a:ext cx="1954987" cy="27066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28185" y="4041648"/>
            <a:ext cx="1509674" cy="31181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4761" y="4059935"/>
            <a:ext cx="1441094" cy="27066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" y="4385462"/>
            <a:ext cx="1509674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" y="4399178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status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72614" y="4385462"/>
            <a:ext cx="2023567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09190" y="4399178"/>
            <a:ext cx="1954987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Check status of files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28185" y="4385462"/>
            <a:ext cx="1509674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64761" y="4399178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status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" y="4729276"/>
            <a:ext cx="1509674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" y="4742992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add &lt;file&gt;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72614" y="4729276"/>
            <a:ext cx="2023567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09190" y="4742992"/>
            <a:ext cx="1954987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Add file to staging area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28185" y="4729276"/>
            <a:ext cx="1509674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4761" y="4742992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add index.html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6" y="5073091"/>
            <a:ext cx="1509674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" y="5086807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add 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72614" y="5073091"/>
            <a:ext cx="2023567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09190" y="5086807"/>
            <a:ext cx="1954987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Add all files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28185" y="5073091"/>
            <a:ext cx="1509674" cy="31181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64761" y="5086807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add 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" y="5416905"/>
            <a:ext cx="1509674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7512" y="5430621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reset &lt;file&gt;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72614" y="5416905"/>
            <a:ext cx="2023567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09190" y="5430621"/>
            <a:ext cx="1954987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Unstage a file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28185" y="5416905"/>
            <a:ext cx="1509674" cy="31181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64761" y="5430621"/>
            <a:ext cx="1441094" cy="29352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reset index.html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72200" y="3566160"/>
            <a:ext cx="5486400" cy="228600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36792" y="3657600"/>
            <a:ext cx="515721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4. Commit Changes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00216" y="4041648"/>
            <a:ext cx="1746321" cy="54101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36792" y="4059935"/>
            <a:ext cx="1677741" cy="49987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078541" y="4041648"/>
            <a:ext cx="1955535" cy="54101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115117" y="4059935"/>
            <a:ext cx="1886955" cy="49987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066080" y="4041648"/>
            <a:ext cx="1432499" cy="541019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02656" y="4059935"/>
            <a:ext cx="1363919" cy="49987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0216" y="4614672"/>
            <a:ext cx="1746321" cy="54101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6792" y="4628388"/>
            <a:ext cx="1677741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commit -m "msg"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78541" y="4614672"/>
            <a:ext cx="1955535" cy="54101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15117" y="4628388"/>
            <a:ext cx="1886955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Save changes with message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66080" y="4614672"/>
            <a:ext cx="1432499" cy="541019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02656" y="4628388"/>
            <a:ext cx="1363919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commit -m "Initial commit"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0216" y="5187696"/>
            <a:ext cx="1746321" cy="54101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36792" y="5201411"/>
            <a:ext cx="1677741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commit -am "msg"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78541" y="5187696"/>
            <a:ext cx="1955535" cy="54101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115117" y="5201411"/>
            <a:ext cx="1886955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Add and commit tracked files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66080" y="5187696"/>
            <a:ext cx="1432499" cy="541019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102656" y="5201411"/>
            <a:ext cx="1363919" cy="522731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commit -am "Update"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2920" y="5989320"/>
            <a:ext cx="5394960" cy="384048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2920" y="6135624"/>
            <a:ext cx="50292" cy="91439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85800" y="6108192"/>
            <a:ext cx="502920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5BDCA0"/>
                </a:solidFill>
                <a:latin typeface="Aptos"/>
              </a:defRPr>
            </a:pPr>
            <a:r>
              <a:t>5. View History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6492240"/>
            <a:ext cx="5029200" cy="-21031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git log • show commit history     |     git log --oneline • compact history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172200" y="5989320"/>
            <a:ext cx="5486400" cy="384048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72200" y="6135624"/>
            <a:ext cx="50292" cy="91439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55080" y="6108192"/>
            <a:ext cx="512064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FFC457"/>
                </a:solidFill>
                <a:latin typeface="Aptos"/>
              </a:defRPr>
            </a:pPr>
            <a:r>
              <a:t>6. Undo Changes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55080" y="6492240"/>
            <a:ext cx="5120640" cy="-21031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restore &lt;file&gt; • discard working changes   |   git reset --hard • reset working directory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GIT &amp; GITHUB • COMPLETE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Git Workflow &amp; Staging 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24712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>
              <a:defRPr sz="1000" b="1">
                <a:solidFill>
                  <a:srgbClr val="B1BE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429000" cy="20116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63624"/>
            <a:ext cx="50292" cy="171907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306324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1. Git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063240" cy="14173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• Git has a 3-step workflow:</a:t>
            </a:r>
            <a:br/>
            <a:r>
              <a:t>  Working Directory → Staging Area → Repository</a:t>
            </a:r>
            <a:br/>
            <a:r>
              <a:t>• Make changes in the working directory.</a:t>
            </a:r>
            <a:br/>
            <a:r>
              <a:t>• Add changes to staging using git add.</a:t>
            </a:r>
            <a:br/>
            <a:r>
              <a:t>• Commit changes to local repository using git commit.</a:t>
            </a:r>
            <a:br/>
            <a:r>
              <a:t>• Helps track and manage changes efficiently.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3429000" cy="2240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58184"/>
            <a:ext cx="50292" cy="194767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306324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3. File States in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3063240" cy="1645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Untracked: new file, not tracked by Git. Command: git add &lt;file&gt;</a:t>
            </a:r>
            <a:br/>
            <a:br/>
            <a:r>
              <a:t>Modified: file changed but not staged. Command: git add &lt;file&gt;</a:t>
            </a:r>
            <a:br/>
            <a:br/>
            <a:r>
              <a:t>Staged: file added to staging area. Command: git commit</a:t>
            </a:r>
            <a:br/>
            <a:br/>
            <a:r>
              <a:t>Committed: file saved in local repository (already committed).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417320"/>
            <a:ext cx="3657600" cy="44348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563624"/>
            <a:ext cx="50292" cy="4142231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536192"/>
            <a:ext cx="329184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5BDCA0"/>
                </a:solidFill>
                <a:latin typeface="Aptos"/>
              </a:defRPr>
            </a:pPr>
            <a:r>
              <a:t>2. Diagram of Git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920240"/>
            <a:ext cx="3291840" cy="3840479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Project files</a:t>
            </a:r>
            <a:br/>
            <a:br/>
            <a:r>
              <a:t>Working Directory  →  Staging Area  →  Local Repository</a:t>
            </a:r>
            <a:br/>
            <a:br/>
            <a:r>
              <a:t>(Your project files)       (Tracks changes)       (Permanent history)</a:t>
            </a:r>
            <a:br/>
            <a:br/>
            <a:r>
              <a:t>Commands:</a:t>
            </a:r>
            <a:br/>
            <a:r>
              <a:t>• git add &lt;file&gt; : move changes to staging</a:t>
            </a:r>
            <a:br/>
            <a:r>
              <a:t>• git commit : save staged changes</a:t>
            </a:r>
            <a:br/>
            <a:r>
              <a:t>• git checkout / git restore : go back to previous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17320"/>
            <a:ext cx="3611880" cy="20116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63624"/>
            <a:ext cx="50292" cy="1719072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36192"/>
            <a:ext cx="324612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FFC457"/>
                </a:solidFill>
                <a:latin typeface="Aptos"/>
              </a:defRPr>
            </a:pPr>
            <a:r>
              <a:t>4. Check the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246120" cy="14173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• Use git status to see current state of your working directory and staging area.</a:t>
            </a:r>
            <a:br/>
            <a:r>
              <a:t>• Shows which files are modified, staged or untracked.</a:t>
            </a:r>
            <a:br/>
            <a:br/>
            <a:r>
              <a:t>Example:</a:t>
            </a:r>
            <a:br/>
            <a:r>
              <a:t>git status</a:t>
            </a:r>
            <a:br/>
            <a:r>
              <a:t>On branch main</a:t>
            </a:r>
            <a:br/>
            <a:r>
              <a:t>Changes not staged for commit:</a:t>
            </a:r>
            <a:br/>
            <a:r>
              <a:t>  modified: index.html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11880"/>
            <a:ext cx="3611880" cy="114300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758184"/>
            <a:ext cx="50292" cy="8503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730752"/>
            <a:ext cx="324612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5. Add and Commit All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324612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• Add all modified and new files at once:</a:t>
            </a:r>
            <a:br/>
            <a:r>
              <a:t>  git add .</a:t>
            </a:r>
            <a:br/>
            <a:r>
              <a:t>• Then commit:</a:t>
            </a:r>
            <a:br/>
            <a:r>
              <a:t>  git commit -m "Your message"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937760"/>
            <a:ext cx="3611880" cy="91440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5084064"/>
            <a:ext cx="50292" cy="62179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5056632"/>
            <a:ext cx="324612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6. View Commit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40680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Use git log to see the list of commits.</a:t>
            </a:r>
            <a:br/>
            <a:r>
              <a:t>• git log --oneline gives a compact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89320"/>
            <a:ext cx="11155680" cy="4114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6135624"/>
            <a:ext cx="50292" cy="11887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108192"/>
            <a:ext cx="10789919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7. Key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92240"/>
            <a:ext cx="10789919" cy="-182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Check status often • Use meaningful commit messages • Keep commits small and logical • Staging helps review changes before committing • Follow a proper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GIT &amp; GITHUB • COMPLETE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Branching and Merging in Git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24712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>
              <a:defRPr sz="1000" b="1">
                <a:solidFill>
                  <a:srgbClr val="B1BE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2240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63624"/>
            <a:ext cx="50292" cy="194767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1. What is a Branch?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154680" cy="1645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• A branch is a separate line of development in Git.</a:t>
            </a:r>
            <a:br/>
            <a:r>
              <a:t>• Work on new features without affecting the main code (main/master).</a:t>
            </a:r>
            <a:br/>
            <a:r>
              <a:t>• Each branch has its own commit history.</a:t>
            </a:r>
            <a:br/>
            <a:r>
              <a:t>• Branches help parallel development by multiple developers.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657600" cy="224028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508760"/>
            <a:ext cx="332841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2. Branching Commands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92808"/>
            <a:ext cx="1260591" cy="302666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911096"/>
            <a:ext cx="1192011" cy="26151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72571" y="1892808"/>
            <a:ext cx="1056497" cy="302666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9147" y="1911096"/>
            <a:ext cx="987917" cy="26151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1073" y="1892808"/>
            <a:ext cx="988466" cy="302666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7649" y="1911096"/>
            <a:ext cx="919886" cy="26151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2227478"/>
            <a:ext cx="1260591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2241194"/>
            <a:ext cx="1192011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2571" y="2227478"/>
            <a:ext cx="1056497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9147" y="2241194"/>
            <a:ext cx="987917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List branches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1073" y="2227478"/>
            <a:ext cx="988466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7649" y="2241194"/>
            <a:ext cx="919886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562148"/>
            <a:ext cx="1260591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2575864"/>
            <a:ext cx="1192011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&lt;name&gt;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72571" y="2562148"/>
            <a:ext cx="1056497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09147" y="2575864"/>
            <a:ext cx="987917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Create a new branch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1073" y="2562148"/>
            <a:ext cx="988466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7649" y="2575864"/>
            <a:ext cx="919886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feature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2896819"/>
            <a:ext cx="1260591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2910535"/>
            <a:ext cx="1192011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-d &lt;name&gt;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72571" y="2896819"/>
            <a:ext cx="1056497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09147" y="2910535"/>
            <a:ext cx="987917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Delete a branch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1073" y="2896819"/>
            <a:ext cx="988466" cy="302666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7649" y="2910535"/>
            <a:ext cx="919886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-d feature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3231489"/>
            <a:ext cx="1260591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3245205"/>
            <a:ext cx="1192011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-D &lt;name&gt;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72571" y="3231489"/>
            <a:ext cx="1056497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09147" y="3245205"/>
            <a:ext cx="987917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Force delete a branch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1073" y="3231489"/>
            <a:ext cx="988466" cy="302666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7649" y="3245205"/>
            <a:ext cx="919886" cy="28437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 -D feature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3840480"/>
            <a:ext cx="3703320" cy="205740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3931920"/>
            <a:ext cx="337413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3. Switch to a Branch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" y="4315968"/>
            <a:ext cx="1346911" cy="26609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4334256"/>
            <a:ext cx="1278331" cy="22494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09851" y="4315968"/>
            <a:ext cx="933236" cy="26609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46427" y="4334256"/>
            <a:ext cx="864656" cy="22494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75091" y="4315968"/>
            <a:ext cx="1071128" cy="26609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1667" y="4334256"/>
            <a:ext cx="1002548" cy="22494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" y="4614062"/>
            <a:ext cx="1346911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4627778"/>
            <a:ext cx="1278331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checkout &lt;branch&gt;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09851" y="4614062"/>
            <a:ext cx="933236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46427" y="4627778"/>
            <a:ext cx="864656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Switch to branch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75091" y="4614062"/>
            <a:ext cx="1071128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1667" y="4627778"/>
            <a:ext cx="1002548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checkout feature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" y="4912156"/>
            <a:ext cx="1346911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" y="4925872"/>
            <a:ext cx="1278331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checkout -b &lt;branch&gt;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09851" y="4912156"/>
            <a:ext cx="933236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46427" y="4925872"/>
            <a:ext cx="864656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Create and switch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75091" y="4912156"/>
            <a:ext cx="1071128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1667" y="4925872"/>
            <a:ext cx="1002548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checkout -b feature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" y="5210251"/>
            <a:ext cx="1346911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" y="5223967"/>
            <a:ext cx="1278331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switch &lt;branch&gt;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09851" y="5210251"/>
            <a:ext cx="933236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46427" y="5223967"/>
            <a:ext cx="864656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Switch branch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75091" y="5210251"/>
            <a:ext cx="1071128" cy="26609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1667" y="5223967"/>
            <a:ext cx="1002548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switch feature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" y="5508345"/>
            <a:ext cx="1346911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" y="5522061"/>
            <a:ext cx="1278331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switch -c &lt;branch&gt;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09851" y="5508345"/>
            <a:ext cx="933236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46427" y="5522061"/>
            <a:ext cx="864656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Create and switch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75091" y="5508345"/>
            <a:ext cx="1071128" cy="26609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11667" y="5522061"/>
            <a:ext cx="1002548" cy="24780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switch -c feature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34840" y="3840480"/>
            <a:ext cx="3474720" cy="205740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99431" y="3931920"/>
            <a:ext cx="314553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4. Merging Branches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62855" y="4315968"/>
            <a:ext cx="1158910" cy="46482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99431" y="4334256"/>
            <a:ext cx="1090330" cy="42367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53770" y="4315968"/>
            <a:ext cx="1191097" cy="46482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90346" y="4334256"/>
            <a:ext cx="1122517" cy="42367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976871" y="4315968"/>
            <a:ext cx="772667" cy="464820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13447" y="4334256"/>
            <a:ext cx="704087" cy="42367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62855" y="4812792"/>
            <a:ext cx="1158910" cy="46482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99431" y="4826508"/>
            <a:ext cx="1090330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merge &lt;branch&gt;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53770" y="4812792"/>
            <a:ext cx="1191097" cy="46482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90346" y="4826508"/>
            <a:ext cx="1122517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Merge branch into current branch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76871" y="4812792"/>
            <a:ext cx="772667" cy="464820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13447" y="4826508"/>
            <a:ext cx="704087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merge feature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62855" y="5309616"/>
            <a:ext cx="1158910" cy="46482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99431" y="5323332"/>
            <a:ext cx="1090330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merge --no-ff &lt;branch&gt;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53770" y="5309616"/>
            <a:ext cx="1191097" cy="46482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90346" y="5323332"/>
            <a:ext cx="1122517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Merge with a merge commit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76871" y="5309616"/>
            <a:ext cx="772667" cy="464820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13447" y="5323332"/>
            <a:ext cx="704087" cy="4465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merge --no-ff feature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38160" y="1417320"/>
            <a:ext cx="3520440" cy="2240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138160" y="1563624"/>
            <a:ext cx="50292" cy="194767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21040" y="153619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5. Merge Example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1920240"/>
            <a:ext cx="3154680" cy="1645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200" b="0">
                <a:solidFill>
                  <a:srgbClr val="F1F6FF"/>
                </a:solidFill>
                <a:latin typeface="Aptos"/>
              </a:defRPr>
            </a:pPr>
            <a:r>
              <a:t>main (master) — stable code</a:t>
            </a:r>
            <a:br/>
            <a:br/>
            <a:r>
              <a:t>feature — new feature</a:t>
            </a:r>
            <a:br/>
            <a:br/>
            <a:r>
              <a:t>Run from main:</a:t>
            </a:r>
            <a:br/>
            <a:r>
              <a:t>git merge feature</a:t>
            </a:r>
            <a:br/>
            <a:br/>
            <a:r>
              <a:t>Result: main contains the updated code.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38160" y="3840480"/>
            <a:ext cx="3520440" cy="205740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38160" y="3986784"/>
            <a:ext cx="50292" cy="1764792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21040" y="395935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5BDCA0"/>
                </a:solidFill>
                <a:latin typeface="Aptos"/>
              </a:defRPr>
            </a:pPr>
            <a:r>
              <a:t>6. Key Points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21040" y="4343400"/>
            <a:ext cx="3154680" cy="14630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0">
                <a:solidFill>
                  <a:srgbClr val="F1F6FF"/>
                </a:solidFill>
                <a:latin typeface="Aptos"/>
              </a:defRPr>
            </a:pPr>
            <a:r>
              <a:t>• Use branches for new features, bug fixes, etc.</a:t>
            </a:r>
            <a:br/>
            <a:r>
              <a:t>• Keep main/master branch stable.</a:t>
            </a:r>
            <a:br/>
            <a:r>
              <a:t>• Use meaningful branch names (e.g., feature-login).</a:t>
            </a:r>
            <a:br/>
            <a:r>
              <a:t>• Merge only after testing.</a:t>
            </a:r>
            <a:br/>
            <a:r>
              <a:t>• Resolve conflicts carefully.</a:t>
            </a:r>
            <a:br/>
            <a:r>
              <a:t>• Delete branches after merging (to keep repo clean).</a:t>
            </a:r>
            <a:br/>
            <a:r>
              <a:t>• Use git log to visualize branch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852160"/>
            <a:ext cx="1828800" cy="1828800"/>
          </a:xfrm>
          <a:prstGeom prst="ellipse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000" b="1">
                <a:solidFill>
                  <a:srgbClr val="3CDCDC"/>
                </a:solidFill>
                <a:latin typeface="Aptos"/>
              </a:defRPr>
            </a:pPr>
            <a:r>
              <a:t>GIT &amp; GITHUB • COMPLETE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2700" b="1">
                <a:solidFill>
                  <a:srgbClr val="F1F6FF"/>
                </a:solidFill>
                <a:latin typeface="Aptos"/>
              </a:defRPr>
            </a:pPr>
            <a:r>
              <a:t>GitHub &amp; Quick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124712"/>
            <a:ext cx="1051560" cy="5029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 algn="r">
              <a:defRPr sz="1000" b="1">
                <a:solidFill>
                  <a:srgbClr val="B1BE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520440" cy="19202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63624"/>
            <a:ext cx="50292" cy="1627632"/>
          </a:xfrm>
          <a:prstGeom prst="rect">
            <a:avLst/>
          </a:prstGeom>
          <a:solidFill>
            <a:srgbClr val="3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3CDCDC"/>
                </a:solidFill>
                <a:latin typeface="Aptos"/>
              </a:defRPr>
            </a:pPr>
            <a:r>
              <a:t>1. What is GitHub?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154680" cy="1325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• GitHub is a cloud-based platform to host Git repositories.</a:t>
            </a:r>
            <a:br/>
            <a:r>
              <a:t>• Web interface to manage code, collaborate with others and showcase projects.</a:t>
            </a:r>
            <a:br/>
            <a:r>
              <a:t>• Built on top of Git.</a:t>
            </a:r>
            <a:br/>
            <a:r>
              <a:t>• Popular for open-source projects.</a:t>
            </a:r>
            <a:br/>
            <a:r>
              <a:t>• Provides features like pull requests, issue management, etc.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657600" cy="192024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508760"/>
            <a:ext cx="332841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2. Important GitHub Commands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92808"/>
            <a:ext cx="1158544" cy="193548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911096"/>
            <a:ext cx="1089964" cy="1524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0524" y="1892808"/>
            <a:ext cx="1158544" cy="193548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7100" y="1911096"/>
            <a:ext cx="1089964" cy="1524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1073" y="1892808"/>
            <a:ext cx="988466" cy="193548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7649" y="1911096"/>
            <a:ext cx="919886" cy="1524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2118360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2132076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remote -v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0524" y="2118360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07100" y="2132076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View remote URLs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1073" y="2118360"/>
            <a:ext cx="988466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7649" y="2132076"/>
            <a:ext cx="919886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remote -v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343912"/>
            <a:ext cx="1158544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2357628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0524" y="2343912"/>
            <a:ext cx="1158544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7100" y="2357628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Push changes to remote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1073" y="2343912"/>
            <a:ext cx="988466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7649" y="2357628"/>
            <a:ext cx="919886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push origin main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2569464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2583180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0524" y="2569464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07100" y="2583180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Fetch and merge changes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1073" y="2569464"/>
            <a:ext cx="988466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7649" y="2583180"/>
            <a:ext cx="919886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pull origin main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2795016"/>
            <a:ext cx="1158544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2808732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fetch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0524" y="2795016"/>
            <a:ext cx="1158544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07100" y="2808732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Fetch changes without merge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1073" y="2795016"/>
            <a:ext cx="988466" cy="19354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7649" y="2808732"/>
            <a:ext cx="919886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fetch origin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9976" y="3020568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3034284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remote add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0524" y="3020568"/>
            <a:ext cx="1158544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07100" y="3034284"/>
            <a:ext cx="1089964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Add remote repository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1073" y="3020568"/>
            <a:ext cx="988466" cy="19354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97649" y="3034284"/>
            <a:ext cx="919886" cy="17526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remote add origin &lt;URL&gt;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417320"/>
            <a:ext cx="3520440" cy="192024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38160" y="1563624"/>
            <a:ext cx="50292" cy="1627632"/>
          </a:xfrm>
          <a:prstGeom prst="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153619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966EFF"/>
                </a:solidFill>
                <a:latin typeface="Aptos"/>
              </a:defRPr>
            </a:pPr>
            <a:r>
              <a:t>4. Common GitHub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20240"/>
            <a:ext cx="3154680" cy="132588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Action — Purpose</a:t>
            </a:r>
            <a:br/>
            <a:r>
              <a:t>Fork — Create a copy of a repository in your GitHub account.</a:t>
            </a:r>
            <a:br/>
            <a:r>
              <a:t>Star — Show support for a project.</a:t>
            </a:r>
            <a:br/>
            <a:r>
              <a:t>Watch — Get notifications about changes.</a:t>
            </a:r>
            <a:br/>
            <a:r>
              <a:t>Clone — Copy repository to local machine.</a:t>
            </a:r>
            <a:br/>
            <a:r>
              <a:t>Pull Request — Suggest and propose changes.</a:t>
            </a:r>
            <a:br/>
            <a:r>
              <a:t>Issues — Track bugs, feature requests, tasks.</a:t>
            </a:r>
            <a:br/>
            <a:r>
              <a:t>Code Review — Review code before merging.</a:t>
            </a:r>
            <a:br/>
            <a:r>
              <a:t>Projects — Manage tasks and development.</a:t>
            </a:r>
            <a:br/>
            <a:r>
              <a:t>Actions — Automate workflows (CI/CD).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3566160"/>
            <a:ext cx="3520440" cy="2240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3712463"/>
            <a:ext cx="50292" cy="1947672"/>
          </a:xfrm>
          <a:prstGeom prst="rect">
            <a:avLst/>
          </a:prstGeom>
          <a:solidFill>
            <a:srgbClr val="5B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8503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5BDCA0"/>
                </a:solidFill>
                <a:latin typeface="Aptos"/>
              </a:defRPr>
            </a:pPr>
            <a:r>
              <a:t>3. GitHub Workflow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069080"/>
            <a:ext cx="3154680" cy="1645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Local Repository (your computer) ⇄ GitHub (remote repository)</a:t>
            </a:r>
            <a:br/>
            <a:br/>
            <a:r>
              <a:t>• Push: upload local changes to GitHub.</a:t>
            </a:r>
            <a:br/>
            <a:r>
              <a:t>• Pull: download latest changes from GitHub.</a:t>
            </a:r>
            <a:br/>
            <a:r>
              <a:t>• Keep your local repository updated regularly.</a:t>
            </a:r>
            <a:br/>
            <a:r>
              <a:t>• Useful for collaboration and backup.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51960" y="3566160"/>
            <a:ext cx="3657600" cy="2240280"/>
          </a:xfrm>
          <a:prstGeom prst="roundRect">
            <a:avLst/>
          </a:prstGeom>
          <a:solidFill>
            <a:srgbClr val="18223E"/>
          </a:solidFill>
          <a:ln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6552" y="3657600"/>
            <a:ext cx="3328416" cy="292608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400" b="1">
                <a:solidFill>
                  <a:srgbClr val="3CDCDC"/>
                </a:solidFill>
                <a:latin typeface="Aptos"/>
              </a:defRPr>
            </a:pPr>
            <a:r>
              <a:t>5. Quick Revision (Key Commands)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79976" y="4041648"/>
            <a:ext cx="1600748" cy="120118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16552" y="4059935"/>
            <a:ext cx="1532168" cy="7897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12728" y="4041648"/>
            <a:ext cx="1736811" cy="120118"/>
          </a:xfrm>
          <a:prstGeom prst="roundRect">
            <a:avLst/>
          </a:prstGeom>
          <a:solidFill>
            <a:srgbClr val="1F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49304" y="4059935"/>
            <a:ext cx="1668231" cy="7897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1">
                <a:solidFill>
                  <a:srgbClr val="FFC457"/>
                </a:solidFill>
                <a:latin typeface="Aptos"/>
              </a:defRPr>
            </a:pPr>
            <a:r>
              <a:t>Use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79976" y="4193770"/>
            <a:ext cx="1600748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16552" y="4207486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init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2728" y="4193770"/>
            <a:ext cx="1736811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49304" y="4207486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Initialize repository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79976" y="4345893"/>
            <a:ext cx="1600748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16552" y="4359609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status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12728" y="4345893"/>
            <a:ext cx="1736811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49304" y="4359609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Check current status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79976" y="4498016"/>
            <a:ext cx="1600748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6552" y="4511732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add 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12728" y="4498016"/>
            <a:ext cx="1736811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49304" y="4511732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Add all changes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79976" y="4650139"/>
            <a:ext cx="1600748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16552" y="4663855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commit -m "msg"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12728" y="4650139"/>
            <a:ext cx="1736811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49304" y="4663855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Commit changes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79976" y="4802262"/>
            <a:ext cx="1600748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16552" y="4815978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log --oneline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12728" y="4802262"/>
            <a:ext cx="1736811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49304" y="4815978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View compact history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79976" y="4954385"/>
            <a:ext cx="1600748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16552" y="4968101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branch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12728" y="4954385"/>
            <a:ext cx="1736811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49304" y="4968101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List branches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79976" y="5106508"/>
            <a:ext cx="1600748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16552" y="5120224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checkout -b &lt;branch&gt;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12728" y="5106508"/>
            <a:ext cx="1736811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49304" y="5120224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Switch/create branch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79976" y="5258631"/>
            <a:ext cx="1600748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16552" y="5272347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merge &lt;branch&gt;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12728" y="5258631"/>
            <a:ext cx="1736811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49304" y="5272347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Merge branch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79976" y="5410754"/>
            <a:ext cx="1600748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16552" y="5424470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push origin main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12728" y="5410754"/>
            <a:ext cx="1736811" cy="120118"/>
          </a:xfrm>
          <a:prstGeom prst="rect">
            <a:avLst/>
          </a:prstGeom>
          <a:solidFill>
            <a:srgbClr val="13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49304" y="5424470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Push to GitHub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79976" y="5562877"/>
            <a:ext cx="1600748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16552" y="5576593"/>
            <a:ext cx="1532168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git pull origin main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12728" y="5562877"/>
            <a:ext cx="1736811" cy="120118"/>
          </a:xfrm>
          <a:prstGeom prst="rect">
            <a:avLst/>
          </a:prstGeom>
          <a:solidFill>
            <a:srgbClr val="1B2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49304" y="5576593"/>
            <a:ext cx="1668231" cy="10183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900" b="0">
                <a:solidFill>
                  <a:srgbClr val="F1F6FF"/>
                </a:solidFill>
                <a:latin typeface="Aptos"/>
              </a:defRPr>
            </a:pPr>
            <a:r>
              <a:t>Pull from GitHub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138160" y="3566160"/>
            <a:ext cx="3520440" cy="2240280"/>
          </a:xfrm>
          <a:prstGeom prst="roundRect">
            <a:avLst/>
          </a:prstGeom>
          <a:solidFill>
            <a:srgbClr val="18223E"/>
          </a:solidFill>
          <a:ln w="12700">
            <a:solidFill>
              <a:srgbClr val="31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38160" y="3712463"/>
            <a:ext cx="50292" cy="1947672"/>
          </a:xfrm>
          <a:prstGeom prst="rect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1040" y="3685032"/>
            <a:ext cx="3154680" cy="310896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500" b="1">
                <a:solidFill>
                  <a:srgbClr val="FFC457"/>
                </a:solidFill>
                <a:latin typeface="Aptos"/>
              </a:defRPr>
            </a:pPr>
            <a:r>
              <a:t>6. Key Takeaways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4069080"/>
            <a:ext cx="3154680" cy="164592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defRPr sz="1100" b="0">
                <a:solidFill>
                  <a:srgbClr val="F1F6FF"/>
                </a:solidFill>
                <a:latin typeface="Aptos"/>
              </a:defRPr>
            </a:pPr>
            <a:r>
              <a:t>• Git is a version control system.</a:t>
            </a:r>
            <a:br/>
            <a:r>
              <a:t>• GitHub helps host and manage repositories.</a:t>
            </a:r>
            <a:br/>
            <a:r>
              <a:t>• Use proper workflow: add → commit → push.</a:t>
            </a:r>
            <a:br/>
            <a:r>
              <a:t>• Keep repositories clean and well-documented.</a:t>
            </a:r>
            <a:br/>
            <a:r>
              <a:t>• Use branches for new features.</a:t>
            </a:r>
            <a:br/>
            <a:r>
              <a:t>• GitHub is widely used in industry and open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